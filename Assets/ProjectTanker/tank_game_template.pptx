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7" r:id="rId2"/>
    <p:sldId id="262" r:id="rId3"/>
    <p:sldId id="263" r:id="rId4"/>
    <p:sldId id="264" r:id="rId5"/>
    <p:sldId id="268" r:id="rId6"/>
    <p:sldId id="266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4183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8300" y="317500"/>
            <a:ext cx="3937000" cy="448310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DE0E6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Text 33"/>
          <p:cNvSpPr/>
          <p:nvPr/>
        </p:nvSpPr>
        <p:spPr>
          <a:xfrm>
            <a:off x="508000" y="508000"/>
            <a:ext cx="3657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C2A8"/>
                </a:solidFill>
              </a:rPr>
              <a:t>TITLE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46100" y="863600"/>
            <a:ext cx="3657600" cy="685800"/>
          </a:xfrm>
          <a:prstGeom prst="roundRect">
            <a:avLst>
              <a:gd name="adj" fmla="val 9333"/>
            </a:avLst>
          </a:prstGeom>
          <a:solidFill>
            <a:srgbClr val="FFF8E1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35"/>
          <p:cNvSpPr/>
          <p:nvPr/>
        </p:nvSpPr>
        <p:spPr>
          <a:xfrm>
            <a:off x="660400" y="939800"/>
            <a:ext cx="342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i="1" dirty="0">
                <a:solidFill>
                  <a:srgbClr val="5A4800"/>
                </a:solidFill>
              </a:rPr>
              <a:t>ゲームタイトル（仮）</a:t>
            </a:r>
          </a:p>
        </p:txBody>
      </p:sp>
      <p:sp>
        <p:nvSpPr>
          <p:cNvPr id="38" name="Shape 36"/>
          <p:cNvSpPr/>
          <p:nvPr/>
        </p:nvSpPr>
        <p:spPr>
          <a:xfrm>
            <a:off x="546100" y="1663700"/>
            <a:ext cx="3657600" cy="1003300"/>
          </a:xfrm>
          <a:prstGeom prst="roundRect">
            <a:avLst>
              <a:gd name="adj" fmla="val 7273"/>
            </a:avLst>
          </a:prstGeom>
          <a:solidFill>
            <a:srgbClr val="E8EBF0"/>
          </a:solidFill>
          <a:ln w="1270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Text 37"/>
          <p:cNvSpPr/>
          <p:nvPr/>
        </p:nvSpPr>
        <p:spPr>
          <a:xfrm>
            <a:off x="546100" y="1663700"/>
            <a:ext cx="3657600" cy="1003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0BAC9"/>
                </a:solidFill>
              </a:rPr>
              <a:t>ゲームタイトル</a:t>
            </a:r>
            <a:endParaRPr lang="en-US" sz="2800" dirty="0"/>
          </a:p>
        </p:txBody>
      </p:sp>
      <p:sp>
        <p:nvSpPr>
          <p:cNvPr id="40" name="Shape 38"/>
          <p:cNvSpPr/>
          <p:nvPr/>
        </p:nvSpPr>
        <p:spPr>
          <a:xfrm>
            <a:off x="546100" y="2794000"/>
            <a:ext cx="3657600" cy="596900"/>
          </a:xfrm>
          <a:prstGeom prst="roundRect">
            <a:avLst>
              <a:gd name="adj" fmla="val 10769"/>
            </a:avLst>
          </a:prstGeom>
          <a:solidFill>
            <a:srgbClr val="FFF8E1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39"/>
          <p:cNvSpPr/>
          <p:nvPr/>
        </p:nvSpPr>
        <p:spPr>
          <a:xfrm>
            <a:off x="660400" y="2857500"/>
            <a:ext cx="3429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i="1" dirty="0">
                <a:solidFill>
                  <a:srgbClr val="5A4800"/>
                </a:solidFill>
              </a:rPr>
              <a:t>キャッチコピー（15字程度）</a:t>
            </a:r>
          </a:p>
        </p:txBody>
      </p:sp>
      <p:sp>
        <p:nvSpPr>
          <p:cNvPr id="42" name="Shape 40"/>
          <p:cNvSpPr/>
          <p:nvPr/>
        </p:nvSpPr>
        <p:spPr>
          <a:xfrm>
            <a:off x="546100" y="3492500"/>
            <a:ext cx="3657600" cy="596900"/>
          </a:xfrm>
          <a:prstGeom prst="roundRect">
            <a:avLst>
              <a:gd name="adj" fmla="val 10769"/>
            </a:avLst>
          </a:prstGeom>
          <a:solidFill>
            <a:srgbClr val="FFF8E1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3" name="Text 41"/>
          <p:cNvSpPr/>
          <p:nvPr/>
        </p:nvSpPr>
        <p:spPr>
          <a:xfrm>
            <a:off x="660400" y="3568700"/>
            <a:ext cx="3429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i="1" dirty="0">
                <a:solidFill>
                  <a:srgbClr val="5A4800"/>
                </a:solidFill>
              </a:rPr>
              <a:t>ジャンル / プラットフォーム / 開発者名</a:t>
            </a:r>
          </a:p>
        </p:txBody>
      </p:sp>
      <p:sp>
        <p:nvSpPr>
          <p:cNvPr id="44" name="Shape 42"/>
          <p:cNvSpPr/>
          <p:nvPr/>
        </p:nvSpPr>
        <p:spPr>
          <a:xfrm>
            <a:off x="4483100" y="317500"/>
            <a:ext cx="4343400" cy="4483100"/>
          </a:xfrm>
          <a:prstGeom prst="roundRect">
            <a:avLst>
              <a:gd name="adj" fmla="val 2254"/>
            </a:avLst>
          </a:prstGeom>
          <a:solidFill>
            <a:srgbClr val="E8EBF0"/>
          </a:solidFill>
          <a:ln w="1905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43"/>
          <p:cNvSpPr/>
          <p:nvPr/>
        </p:nvSpPr>
        <p:spPr>
          <a:xfrm>
            <a:off x="7200900" y="411480"/>
            <a:ext cx="0" cy="4297680"/>
          </a:xfrm>
          <a:prstGeom prst="line">
            <a:avLst/>
          </a:prstGeom>
          <a:noFill/>
          <a:ln w="889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Shape 44"/>
          <p:cNvSpPr/>
          <p:nvPr/>
        </p:nvSpPr>
        <p:spPr>
          <a:xfrm>
            <a:off x="5669280" y="2560320"/>
            <a:ext cx="3063240" cy="0"/>
          </a:xfrm>
          <a:prstGeom prst="line">
            <a:avLst/>
          </a:prstGeom>
          <a:noFill/>
          <a:ln w="889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7" name="Text 45"/>
          <p:cNvSpPr/>
          <p:nvPr/>
        </p:nvSpPr>
        <p:spPr>
          <a:xfrm>
            <a:off x="4483100" y="2235200"/>
            <a:ext cx="434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B0BAC9"/>
                </a:solidFill>
              </a:rPr>
              <a:t>[ IMAGE ]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0" y="2540000"/>
            <a:ext cx="4165600" cy="187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950" dirty="0">
                <a:solidFill>
                  <a:srgbClr val="8A909E"/>
                </a:solidFill>
              </a:rPr>
              <a:t>キーアート / スクリーンショット</a:t>
            </a:r>
          </a:p>
        </p:txBody>
      </p:sp>
    </p:spTree>
    <p:extLst>
      <p:ext uri="{BB962C8B-B14F-4D97-AF65-F5344CB8AC3E}">
        <p14:creationId xmlns:p14="http://schemas.microsoft.com/office/powerpoint/2010/main" val="33830954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C2A8"/>
                </a:solidFill>
              </a:rPr>
              <a:t>GAME OVERVIEW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ゲームの概要</a:t>
            </a:r>
            <a:endParaRPr lang="en-US" sz="3200" dirty="0"/>
          </a:p>
        </p:txBody>
      </p:sp>
      <p:sp>
        <p:nvSpPr>
          <p:cNvPr id="36" name="Shape 34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5"/>
          <p:cNvSpPr/>
          <p:nvPr/>
        </p:nvSpPr>
        <p:spPr>
          <a:xfrm>
            <a:off x="368300" y="1422400"/>
            <a:ext cx="3200400" cy="32893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0E6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546100" y="1574800"/>
            <a:ext cx="28321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D23"/>
                </a:solidFill>
              </a:rPr>
              <a:t>ゲーム説明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546100" y="1968500"/>
            <a:ext cx="2832100" cy="1003300"/>
          </a:xfrm>
          <a:prstGeom prst="roundRect">
            <a:avLst>
              <a:gd name="adj" fmla="val 6364"/>
            </a:avLst>
          </a:prstGeom>
          <a:solidFill>
            <a:srgbClr val="FFF8E1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/>
          <p:cNvSpPr/>
          <p:nvPr/>
        </p:nvSpPr>
        <p:spPr>
          <a:xfrm>
            <a:off x="660400" y="2044700"/>
            <a:ext cx="26162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i="1" dirty="0">
                <a:solidFill>
                  <a:srgbClr val="5A4800"/>
                </a:solidFill>
              </a:rPr>
              <a:t>ジャンル・舞台・目的を3〜4文で</a:t>
            </a:r>
          </a:p>
        </p:txBody>
      </p:sp>
      <p:sp>
        <p:nvSpPr>
          <p:cNvPr id="41" name="Shape 39"/>
          <p:cNvSpPr/>
          <p:nvPr/>
        </p:nvSpPr>
        <p:spPr>
          <a:xfrm>
            <a:off x="548640" y="3090672"/>
            <a:ext cx="3657600" cy="0"/>
          </a:xfrm>
          <a:prstGeom prst="line">
            <a:avLst/>
          </a:prstGeom>
          <a:noFill/>
          <a:ln w="889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/>
          <p:cNvSpPr/>
          <p:nvPr/>
        </p:nvSpPr>
        <p:spPr>
          <a:xfrm>
            <a:off x="546100" y="3200400"/>
            <a:ext cx="283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D23"/>
                </a:solidFill>
              </a:rPr>
              <a:t>基本情報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46100" y="3568700"/>
            <a:ext cx="2832100" cy="965200"/>
          </a:xfrm>
          <a:prstGeom prst="roundRect">
            <a:avLst>
              <a:gd name="adj" fmla="val 6667"/>
            </a:avLst>
          </a:prstGeom>
          <a:solidFill>
            <a:srgbClr val="FFF8E1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4" name="Text 42"/>
          <p:cNvSpPr/>
          <p:nvPr/>
        </p:nvSpPr>
        <p:spPr>
          <a:xfrm>
            <a:off x="660400" y="3644900"/>
            <a:ext cx="26162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i="1" dirty="0">
                <a:solidFill>
                  <a:srgbClr val="5A4800"/>
                </a:solidFill>
              </a:rPr>
              <a:t>ジャンル / プレイ時間 / 対象 / 状況</a:t>
            </a:r>
          </a:p>
        </p:txBody>
      </p:sp>
      <p:sp>
        <p:nvSpPr>
          <p:cNvPr id="45" name="Shape 43"/>
          <p:cNvSpPr/>
          <p:nvPr/>
        </p:nvSpPr>
        <p:spPr>
          <a:xfrm>
            <a:off x="3746500" y="1422400"/>
            <a:ext cx="5029200" cy="3289300"/>
          </a:xfrm>
          <a:prstGeom prst="roundRect">
            <a:avLst>
              <a:gd name="adj" fmla="val 2222"/>
            </a:avLst>
          </a:prstGeom>
          <a:solidFill>
            <a:srgbClr val="E8EBF0"/>
          </a:solidFill>
          <a:ln w="1905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Shape 44"/>
          <p:cNvSpPr/>
          <p:nvPr/>
        </p:nvSpPr>
        <p:spPr>
          <a:xfrm>
            <a:off x="6720840" y="1508760"/>
            <a:ext cx="0" cy="3108960"/>
          </a:xfrm>
          <a:prstGeom prst="line">
            <a:avLst/>
          </a:prstGeom>
          <a:noFill/>
          <a:ln w="889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7" name="Shape 45"/>
          <p:cNvSpPr/>
          <p:nvPr/>
        </p:nvSpPr>
        <p:spPr>
          <a:xfrm>
            <a:off x="4754880" y="3063240"/>
            <a:ext cx="3931920" cy="0"/>
          </a:xfrm>
          <a:prstGeom prst="line">
            <a:avLst/>
          </a:prstGeom>
          <a:noFill/>
          <a:ln w="889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Text 46"/>
          <p:cNvSpPr/>
          <p:nvPr/>
        </p:nvSpPr>
        <p:spPr>
          <a:xfrm>
            <a:off x="3746500" y="2743200"/>
            <a:ext cx="50292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B0BAC9"/>
                </a:solidFill>
              </a:rPr>
              <a:t>[ IMAGE ]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835400" y="3048000"/>
            <a:ext cx="4851400" cy="138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950" dirty="0">
                <a:solidFill>
                  <a:srgbClr val="8A909E"/>
                </a:solidFill>
              </a:rPr>
              <a:t>ゲームプレイ画面のスクリーンショット</a:t>
            </a:r>
          </a:p>
        </p:txBody>
      </p:sp>
    </p:spTree>
    <p:extLst>
      <p:ext uri="{BB962C8B-B14F-4D97-AF65-F5344CB8AC3E}">
        <p14:creationId xmlns:p14="http://schemas.microsoft.com/office/powerpoint/2010/main" val="1885029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C2A8"/>
                </a:solidFill>
              </a:rPr>
              <a:t>CONTROLS &amp; EFFECTS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操作感とエフェクト・演出</a:t>
            </a:r>
            <a:endParaRPr lang="en-US" sz="3200" dirty="0"/>
          </a:p>
        </p:txBody>
      </p:sp>
      <p:sp>
        <p:nvSpPr>
          <p:cNvPr id="36" name="Shape 34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5"/>
          <p:cNvSpPr/>
          <p:nvPr/>
        </p:nvSpPr>
        <p:spPr>
          <a:xfrm>
            <a:off x="368300" y="1422400"/>
            <a:ext cx="3200400" cy="15113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DE0E6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546100" y="1536700"/>
            <a:ext cx="28321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D23"/>
                </a:solidFill>
              </a:rPr>
              <a:t>操作感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546100" y="1917700"/>
            <a:ext cx="2832100" cy="863600"/>
          </a:xfrm>
          <a:prstGeom prst="roundRect">
            <a:avLst>
              <a:gd name="adj" fmla="val 7368"/>
            </a:avLst>
          </a:prstGeom>
          <a:solidFill>
            <a:srgbClr val="FFF8E1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/>
          <p:cNvSpPr/>
          <p:nvPr/>
        </p:nvSpPr>
        <p:spPr>
          <a:xfrm>
            <a:off x="660400" y="1993900"/>
            <a:ext cx="26162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i="1" dirty="0">
                <a:solidFill>
                  <a:srgbClr val="5A4800"/>
                </a:solidFill>
              </a:rPr>
              <a:t>車体・砲台の独立操作 / 慣性の特徴</a:t>
            </a:r>
          </a:p>
        </p:txBody>
      </p:sp>
      <p:sp>
        <p:nvSpPr>
          <p:cNvPr id="41" name="Shape 39"/>
          <p:cNvSpPr/>
          <p:nvPr/>
        </p:nvSpPr>
        <p:spPr>
          <a:xfrm>
            <a:off x="368300" y="3060700"/>
            <a:ext cx="3200400" cy="16510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0E6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/>
          <p:cNvSpPr/>
          <p:nvPr/>
        </p:nvSpPr>
        <p:spPr>
          <a:xfrm>
            <a:off x="546100" y="3187700"/>
            <a:ext cx="28321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D23"/>
                </a:solidFill>
              </a:rPr>
              <a:t>エフェクト・演出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46100" y="3568700"/>
            <a:ext cx="2832100" cy="1003300"/>
          </a:xfrm>
          <a:prstGeom prst="roundRect">
            <a:avLst>
              <a:gd name="adj" fmla="val 6364"/>
            </a:avLst>
          </a:prstGeom>
          <a:solidFill>
            <a:srgbClr val="FFF8E1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4" name="Text 42"/>
          <p:cNvSpPr/>
          <p:nvPr/>
        </p:nvSpPr>
        <p:spPr>
          <a:xfrm>
            <a:off x="660400" y="3644900"/>
            <a:ext cx="26162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i="1" dirty="0">
                <a:solidFill>
                  <a:srgbClr val="5A4800"/>
                </a:solidFill>
              </a:rPr>
              <a:t>属性弾・爆発・被弾のビジュアル演出</a:t>
            </a:r>
          </a:p>
        </p:txBody>
      </p:sp>
      <p:sp>
        <p:nvSpPr>
          <p:cNvPr id="45" name="Shape 43"/>
          <p:cNvSpPr/>
          <p:nvPr/>
        </p:nvSpPr>
        <p:spPr>
          <a:xfrm>
            <a:off x="3746500" y="1422400"/>
            <a:ext cx="5029200" cy="1511300"/>
          </a:xfrm>
          <a:prstGeom prst="roundRect">
            <a:avLst>
              <a:gd name="adj" fmla="val 4848"/>
            </a:avLst>
          </a:prstGeom>
          <a:solidFill>
            <a:srgbClr val="E8EBF0"/>
          </a:solidFill>
          <a:ln w="1905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Shape 44"/>
          <p:cNvSpPr/>
          <p:nvPr/>
        </p:nvSpPr>
        <p:spPr>
          <a:xfrm>
            <a:off x="6720840" y="1508760"/>
            <a:ext cx="0" cy="1325880"/>
          </a:xfrm>
          <a:prstGeom prst="line">
            <a:avLst/>
          </a:prstGeom>
          <a:noFill/>
          <a:ln w="889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7" name="Shape 45"/>
          <p:cNvSpPr/>
          <p:nvPr/>
        </p:nvSpPr>
        <p:spPr>
          <a:xfrm>
            <a:off x="4754880" y="2171700"/>
            <a:ext cx="3931920" cy="0"/>
          </a:xfrm>
          <a:prstGeom prst="line">
            <a:avLst/>
          </a:prstGeom>
          <a:noFill/>
          <a:ln w="889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Text 46"/>
          <p:cNvSpPr/>
          <p:nvPr/>
        </p:nvSpPr>
        <p:spPr>
          <a:xfrm>
            <a:off x="3746500" y="1854200"/>
            <a:ext cx="50292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B0BAC9"/>
                </a:solidFill>
              </a:rPr>
              <a:t>[ IMAGE ]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835400" y="2159000"/>
            <a:ext cx="4851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950" dirty="0">
                <a:solidFill>
                  <a:srgbClr val="8A909E"/>
                </a:solidFill>
              </a:rPr>
              <a:t>操作シーンのスクリーンショット</a:t>
            </a:r>
          </a:p>
        </p:txBody>
      </p:sp>
      <p:sp>
        <p:nvSpPr>
          <p:cNvPr id="50" name="Shape 48"/>
          <p:cNvSpPr/>
          <p:nvPr/>
        </p:nvSpPr>
        <p:spPr>
          <a:xfrm>
            <a:off x="3746500" y="3060700"/>
            <a:ext cx="5029200" cy="1651000"/>
          </a:xfrm>
          <a:prstGeom prst="roundRect">
            <a:avLst>
              <a:gd name="adj" fmla="val 4444"/>
            </a:avLst>
          </a:prstGeom>
          <a:solidFill>
            <a:srgbClr val="E8EBF0"/>
          </a:solidFill>
          <a:ln w="1905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49"/>
          <p:cNvSpPr/>
          <p:nvPr/>
        </p:nvSpPr>
        <p:spPr>
          <a:xfrm>
            <a:off x="6720840" y="3154680"/>
            <a:ext cx="0" cy="1463040"/>
          </a:xfrm>
          <a:prstGeom prst="line">
            <a:avLst/>
          </a:prstGeom>
          <a:noFill/>
          <a:ln w="889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2" name="Shape 50"/>
          <p:cNvSpPr/>
          <p:nvPr/>
        </p:nvSpPr>
        <p:spPr>
          <a:xfrm>
            <a:off x="4754880" y="3886200"/>
            <a:ext cx="3931920" cy="0"/>
          </a:xfrm>
          <a:prstGeom prst="line">
            <a:avLst/>
          </a:prstGeom>
          <a:noFill/>
          <a:ln w="889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3" name="Text 51"/>
          <p:cNvSpPr/>
          <p:nvPr/>
        </p:nvSpPr>
        <p:spPr>
          <a:xfrm>
            <a:off x="3746500" y="3568700"/>
            <a:ext cx="50292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B0BAC9"/>
                </a:solidFill>
              </a:rPr>
              <a:t>[ IMAGE ]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835400" y="3873500"/>
            <a:ext cx="485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950" dirty="0">
                <a:solidFill>
                  <a:srgbClr val="8A909E"/>
                </a:solidFill>
              </a:rPr>
              <a:t>エフェクト演出のスクリーンショット</a:t>
            </a:r>
          </a:p>
        </p:txBody>
      </p:sp>
    </p:spTree>
    <p:extLst>
      <p:ext uri="{BB962C8B-B14F-4D97-AF65-F5344CB8AC3E}">
        <p14:creationId xmlns:p14="http://schemas.microsoft.com/office/powerpoint/2010/main" val="2007759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C2A8"/>
                </a:solidFill>
              </a:rPr>
              <a:t>MODULE CUSTOMIZATION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57200" y="43891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モジュールでのカスタマイズ</a:t>
            </a:r>
            <a:endParaRPr lang="en-US" sz="3200" dirty="0"/>
          </a:p>
        </p:txBody>
      </p:sp>
      <p:sp>
        <p:nvSpPr>
          <p:cNvPr id="36" name="Shape 34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5"/>
          <p:cNvSpPr/>
          <p:nvPr/>
        </p:nvSpPr>
        <p:spPr>
          <a:xfrm>
            <a:off x="368300" y="1375410"/>
            <a:ext cx="84124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DE0E6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548640" y="153619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D23"/>
                </a:solidFill>
              </a:rPr>
              <a:t>モジュールシステムとは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548640" y="1901952"/>
            <a:ext cx="8046720" cy="621792"/>
          </a:xfrm>
          <a:prstGeom prst="roundRect">
            <a:avLst>
              <a:gd name="adj" fmla="val 10294"/>
            </a:avLst>
          </a:prstGeom>
          <a:solidFill>
            <a:srgbClr val="FFF8E1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/>
          <p:cNvSpPr/>
          <p:nvPr/>
        </p:nvSpPr>
        <p:spPr>
          <a:xfrm>
            <a:off x="658368" y="1975104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i="1" dirty="0">
                <a:solidFill>
                  <a:srgbClr val="5A4800"/>
                </a:solidFill>
              </a:rPr>
              <a:t>7スロット × 自由配置 / 重複で線形強化</a:t>
            </a:r>
          </a:p>
        </p:txBody>
      </p:sp>
      <p:sp>
        <p:nvSpPr>
          <p:cNvPr id="41" name="Shape 39"/>
          <p:cNvSpPr/>
          <p:nvPr/>
        </p:nvSpPr>
        <p:spPr>
          <a:xfrm>
            <a:off x="368300" y="2794000"/>
            <a:ext cx="3200400" cy="19177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DE0E6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/>
          <p:cNvSpPr/>
          <p:nvPr/>
        </p:nvSpPr>
        <p:spPr>
          <a:xfrm>
            <a:off x="546100" y="2908300"/>
            <a:ext cx="28321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D23"/>
                </a:solidFill>
              </a:rPr>
              <a:t>モジュールの種類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46100" y="3289300"/>
            <a:ext cx="2832100" cy="1295400"/>
          </a:xfrm>
          <a:prstGeom prst="roundRect">
            <a:avLst>
              <a:gd name="adj" fmla="val 4930"/>
            </a:avLst>
          </a:prstGeom>
          <a:solidFill>
            <a:srgbClr val="FFF8E1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4" name="Text 42"/>
          <p:cNvSpPr/>
          <p:nvPr/>
        </p:nvSpPr>
        <p:spPr>
          <a:xfrm>
            <a:off x="660400" y="3365500"/>
            <a:ext cx="2616200" cy="1155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i="1" dirty="0">
                <a:solidFill>
                  <a:srgbClr val="5A4800"/>
                </a:solidFill>
              </a:rPr>
              <a:t>速度UP / 攻撃強化 / 防御 / 特殊効果…</a:t>
            </a:r>
          </a:p>
        </p:txBody>
      </p:sp>
      <p:sp>
        <p:nvSpPr>
          <p:cNvPr id="45" name="Shape 43"/>
          <p:cNvSpPr/>
          <p:nvPr/>
        </p:nvSpPr>
        <p:spPr>
          <a:xfrm>
            <a:off x="3746500" y="2794000"/>
            <a:ext cx="5029200" cy="1917700"/>
          </a:xfrm>
          <a:prstGeom prst="roundRect">
            <a:avLst>
              <a:gd name="adj" fmla="val 3810"/>
            </a:avLst>
          </a:prstGeom>
          <a:solidFill>
            <a:srgbClr val="E8EBF0"/>
          </a:solidFill>
          <a:ln w="1905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Shape 44"/>
          <p:cNvSpPr/>
          <p:nvPr/>
        </p:nvSpPr>
        <p:spPr>
          <a:xfrm>
            <a:off x="6720840" y="2880360"/>
            <a:ext cx="0" cy="1737360"/>
          </a:xfrm>
          <a:prstGeom prst="line">
            <a:avLst/>
          </a:prstGeom>
          <a:noFill/>
          <a:ln w="889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7" name="Shape 45"/>
          <p:cNvSpPr/>
          <p:nvPr/>
        </p:nvSpPr>
        <p:spPr>
          <a:xfrm>
            <a:off x="4754880" y="3749040"/>
            <a:ext cx="3931920" cy="0"/>
          </a:xfrm>
          <a:prstGeom prst="line">
            <a:avLst/>
          </a:prstGeom>
          <a:noFill/>
          <a:ln w="889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Text 46"/>
          <p:cNvSpPr/>
          <p:nvPr/>
        </p:nvSpPr>
        <p:spPr>
          <a:xfrm>
            <a:off x="3746500" y="3429000"/>
            <a:ext cx="50292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B0BAC9"/>
                </a:solidFill>
              </a:rPr>
              <a:t>[ IMAGE ]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835400" y="3733800"/>
            <a:ext cx="4851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950" dirty="0">
                <a:solidFill>
                  <a:srgbClr val="8A909E"/>
                </a:solidFill>
              </a:rPr>
              <a:t>モジュール選択UI / カスタマイズ画面</a:t>
            </a:r>
          </a:p>
        </p:txBody>
      </p:sp>
    </p:spTree>
    <p:extLst>
      <p:ext uri="{BB962C8B-B14F-4D97-AF65-F5344CB8AC3E}">
        <p14:creationId xmlns:p14="http://schemas.microsoft.com/office/powerpoint/2010/main" val="2536881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C2A8"/>
                </a:solidFill>
              </a:rPr>
              <a:t>APPEAL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このゲームの魅力</a:t>
            </a:r>
            <a:endParaRPr lang="en-US" sz="3200" dirty="0"/>
          </a:p>
        </p:txBody>
      </p:sp>
      <p:sp>
        <p:nvSpPr>
          <p:cNvPr id="36" name="Shape 34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5"/>
          <p:cNvSpPr/>
          <p:nvPr/>
        </p:nvSpPr>
        <p:spPr>
          <a:xfrm>
            <a:off x="365760" y="1417320"/>
            <a:ext cx="2697480" cy="32918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DE0E6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8" name="Shape 36"/>
          <p:cNvSpPr/>
          <p:nvPr/>
        </p:nvSpPr>
        <p:spPr>
          <a:xfrm>
            <a:off x="502920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Text 37"/>
          <p:cNvSpPr/>
          <p:nvPr/>
        </p:nvSpPr>
        <p:spPr>
          <a:xfrm>
            <a:off x="50292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02920" y="202996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A1D23"/>
                </a:solidFill>
              </a:rPr>
              <a:t>操作 × 戦略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02920" y="2578608"/>
            <a:ext cx="2377440" cy="0"/>
          </a:xfrm>
          <a:prstGeom prst="line">
            <a:avLst/>
          </a:prstGeom>
          <a:noFill/>
          <a:ln w="889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Shape 40"/>
          <p:cNvSpPr/>
          <p:nvPr/>
        </p:nvSpPr>
        <p:spPr>
          <a:xfrm>
            <a:off x="508000" y="2692400"/>
            <a:ext cx="2425700" cy="762000"/>
          </a:xfrm>
          <a:prstGeom prst="roundRect">
            <a:avLst>
              <a:gd name="adj" fmla="val 3415"/>
            </a:avLst>
          </a:prstGeom>
          <a:solidFill>
            <a:srgbClr val="FFF8E1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3" name="Text 41"/>
          <p:cNvSpPr/>
          <p:nvPr/>
        </p:nvSpPr>
        <p:spPr>
          <a:xfrm>
            <a:off x="609600" y="2768600"/>
            <a:ext cx="220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i="1" dirty="0">
                <a:solidFill>
                  <a:srgbClr val="5A4800"/>
                </a:solidFill>
              </a:rPr>
              <a:t>直感操作 × 属性弾の戦術</a:t>
            </a:r>
          </a:p>
        </p:txBody>
      </p:sp>
      <p:sp>
        <p:nvSpPr>
          <p:cNvPr id="44" name="Shape 42"/>
          <p:cNvSpPr/>
          <p:nvPr/>
        </p:nvSpPr>
        <p:spPr>
          <a:xfrm>
            <a:off x="3246120" y="1417320"/>
            <a:ext cx="2697480" cy="32918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DE0E6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43"/>
          <p:cNvSpPr/>
          <p:nvPr/>
        </p:nvSpPr>
        <p:spPr>
          <a:xfrm>
            <a:off x="3383280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44"/>
          <p:cNvSpPr/>
          <p:nvPr/>
        </p:nvSpPr>
        <p:spPr>
          <a:xfrm>
            <a:off x="338328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02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383280" y="202996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A1D23"/>
                </a:solidFill>
              </a:rPr>
              <a:t>自分だけの戦車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383280" y="2578608"/>
            <a:ext cx="2377440" cy="0"/>
          </a:xfrm>
          <a:prstGeom prst="line">
            <a:avLst/>
          </a:prstGeom>
          <a:noFill/>
          <a:ln w="889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9" name="Shape 47"/>
          <p:cNvSpPr/>
          <p:nvPr/>
        </p:nvSpPr>
        <p:spPr>
          <a:xfrm>
            <a:off x="3378200" y="2692400"/>
            <a:ext cx="2425700" cy="762000"/>
          </a:xfrm>
          <a:prstGeom prst="roundRect">
            <a:avLst>
              <a:gd name="adj" fmla="val 3415"/>
            </a:avLst>
          </a:prstGeom>
          <a:solidFill>
            <a:srgbClr val="FFF8E1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0" name="Text 48"/>
          <p:cNvSpPr/>
          <p:nvPr/>
        </p:nvSpPr>
        <p:spPr>
          <a:xfrm>
            <a:off x="3492500" y="2768600"/>
            <a:ext cx="220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i="1" dirty="0">
                <a:solidFill>
                  <a:srgbClr val="5A4800"/>
                </a:solidFill>
              </a:rPr>
              <a:t>モジュールで無限のビルド</a:t>
            </a:r>
          </a:p>
        </p:txBody>
      </p:sp>
      <p:sp>
        <p:nvSpPr>
          <p:cNvPr id="51" name="Shape 49"/>
          <p:cNvSpPr/>
          <p:nvPr/>
        </p:nvSpPr>
        <p:spPr>
          <a:xfrm>
            <a:off x="6126480" y="1417320"/>
            <a:ext cx="2697480" cy="32918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DE0E6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2" name="Shape 50"/>
          <p:cNvSpPr/>
          <p:nvPr/>
        </p:nvSpPr>
        <p:spPr>
          <a:xfrm>
            <a:off x="6263640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3" name="Text 51"/>
          <p:cNvSpPr/>
          <p:nvPr/>
        </p:nvSpPr>
        <p:spPr>
          <a:xfrm>
            <a:off x="62636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263640" y="202996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A1D23"/>
                </a:solidFill>
              </a:rPr>
              <a:t>5分で完結する爽快感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263640" y="2578608"/>
            <a:ext cx="2377440" cy="0"/>
          </a:xfrm>
          <a:prstGeom prst="line">
            <a:avLst/>
          </a:prstGeom>
          <a:noFill/>
          <a:ln w="889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6" name="Shape 54"/>
          <p:cNvSpPr/>
          <p:nvPr/>
        </p:nvSpPr>
        <p:spPr>
          <a:xfrm>
            <a:off x="6261100" y="2692400"/>
            <a:ext cx="2425700" cy="762000"/>
          </a:xfrm>
          <a:prstGeom prst="roundRect">
            <a:avLst>
              <a:gd name="adj" fmla="val 3415"/>
            </a:avLst>
          </a:prstGeom>
          <a:solidFill>
            <a:srgbClr val="FFF8E1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Text 55"/>
          <p:cNvSpPr/>
          <p:nvPr/>
        </p:nvSpPr>
        <p:spPr>
          <a:xfrm>
            <a:off x="6375400" y="2768600"/>
            <a:ext cx="220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i="1" dirty="0">
                <a:solidFill>
                  <a:srgbClr val="5A4800"/>
                </a:solidFill>
              </a:rPr>
              <a:t>短時間 × ローグライクの中毒性</a:t>
            </a:r>
          </a:p>
        </p:txBody>
      </p:sp>
      <p:sp>
        <p:nvSpPr>
          <p:cNvPr id="101" name="Image 101"/>
          <p:cNvSpPr/>
          <p:nvPr/>
        </p:nvSpPr>
        <p:spPr>
          <a:xfrm>
            <a:off x="508000" y="3556000"/>
            <a:ext cx="2425700" cy="10414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 w="6350">
            <a:solidFill>
              <a:srgbClr val="D0D4DC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en-US" sz="900" b="1" kern="0" spc="200" dirty="0">
                <a:solidFill>
                  <a:srgbClr val="7A808C"/>
                </a:solidFill>
              </a:rPr>
              <a:t>[ IMAGE ]</a:t>
            </a:r>
          </a:p>
        </p:txBody>
      </p:sp>
      <p:sp>
        <p:nvSpPr>
          <p:cNvPr id="102" name="Image 102"/>
          <p:cNvSpPr/>
          <p:nvPr/>
        </p:nvSpPr>
        <p:spPr>
          <a:xfrm>
            <a:off x="3378200" y="3556000"/>
            <a:ext cx="2425700" cy="10414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 w="6350">
            <a:solidFill>
              <a:srgbClr val="D0D4DC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en-US" sz="900" b="1" kern="0" spc="200" dirty="0">
                <a:solidFill>
                  <a:srgbClr val="7A808C"/>
                </a:solidFill>
              </a:rPr>
              <a:t>[ IMAGE ]</a:t>
            </a:r>
          </a:p>
        </p:txBody>
      </p:sp>
      <p:sp>
        <p:nvSpPr>
          <p:cNvPr id="103" name="Image 103"/>
          <p:cNvSpPr/>
          <p:nvPr/>
        </p:nvSpPr>
        <p:spPr>
          <a:xfrm>
            <a:off x="6261100" y="3556000"/>
            <a:ext cx="2425700" cy="10414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 w="6350">
            <a:solidFill>
              <a:srgbClr val="D0D4DC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en-US" sz="900" b="1" kern="0" spc="200" dirty="0">
                <a:solidFill>
                  <a:srgbClr val="7A808C"/>
                </a:solidFill>
              </a:rPr>
              <a:t>[ IMAGE ]</a:t>
            </a:r>
          </a:p>
        </p:txBody>
      </p:sp>
    </p:spTree>
    <p:extLst>
      <p:ext uri="{BB962C8B-B14F-4D97-AF65-F5344CB8AC3E}">
        <p14:creationId xmlns:p14="http://schemas.microsoft.com/office/powerpoint/2010/main" val="7306287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6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C2A8"/>
                </a:solidFill>
              </a:rPr>
              <a:t>CLOSING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締め</a:t>
            </a:r>
            <a:endParaRPr lang="en-US" sz="3200" dirty="0"/>
          </a:p>
        </p:txBody>
      </p:sp>
      <p:sp>
        <p:nvSpPr>
          <p:cNvPr id="36" name="Shape 34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5"/>
          <p:cNvSpPr/>
          <p:nvPr/>
        </p:nvSpPr>
        <p:spPr>
          <a:xfrm>
            <a:off x="365760" y="1417320"/>
            <a:ext cx="84124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0E6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548640" y="153619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D23"/>
                </a:solidFill>
              </a:rPr>
              <a:t>締めのメッセージ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548640" y="1920240"/>
            <a:ext cx="8046720" cy="749808"/>
          </a:xfrm>
          <a:prstGeom prst="roundRect">
            <a:avLst>
              <a:gd name="adj" fmla="val 8537"/>
            </a:avLst>
          </a:prstGeom>
          <a:solidFill>
            <a:srgbClr val="FFF8E1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/>
          <p:cNvSpPr/>
          <p:nvPr/>
        </p:nvSpPr>
        <p:spPr>
          <a:xfrm>
            <a:off x="658368" y="1993392"/>
            <a:ext cx="7827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i="1" dirty="0">
                <a:solidFill>
                  <a:srgbClr val="5A4800"/>
                </a:solidFill>
              </a:rPr>
              <a:t>TGSで届けたい体験・熱量を1〜2文で</a:t>
            </a:r>
          </a:p>
        </p:txBody>
      </p:sp>
      <p:sp>
        <p:nvSpPr>
          <p:cNvPr id="41" name="Shape 39"/>
          <p:cNvSpPr/>
          <p:nvPr/>
        </p:nvSpPr>
        <p:spPr>
          <a:xfrm>
            <a:off x="368300" y="2921000"/>
            <a:ext cx="3200400" cy="17399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DE0E6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/>
          <p:cNvSpPr/>
          <p:nvPr/>
        </p:nvSpPr>
        <p:spPr>
          <a:xfrm>
            <a:off x="546100" y="3048000"/>
            <a:ext cx="28321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D23"/>
                </a:solidFill>
              </a:rPr>
              <a:t>TGSで目指すこと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46100" y="3429000"/>
            <a:ext cx="2832100" cy="1117600"/>
          </a:xfrm>
          <a:prstGeom prst="roundRect">
            <a:avLst>
              <a:gd name="adj" fmla="val 5738"/>
            </a:avLst>
          </a:prstGeom>
          <a:solidFill>
            <a:srgbClr val="FFF8E1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4" name="Text 42"/>
          <p:cNvSpPr/>
          <p:nvPr/>
        </p:nvSpPr>
        <p:spPr>
          <a:xfrm>
            <a:off x="660400" y="3505200"/>
            <a:ext cx="26162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i="1" dirty="0">
                <a:solidFill>
                  <a:srgbClr val="5A4800"/>
                </a:solidFill>
              </a:rPr>
              <a:t>目標 / 期待する反応 / 出展後の展開</a:t>
            </a:r>
          </a:p>
        </p:txBody>
      </p:sp>
      <p:sp>
        <p:nvSpPr>
          <p:cNvPr id="45" name="Shape 43"/>
          <p:cNvSpPr/>
          <p:nvPr/>
        </p:nvSpPr>
        <p:spPr>
          <a:xfrm>
            <a:off x="3746500" y="2921000"/>
            <a:ext cx="5029200" cy="1739900"/>
          </a:xfrm>
          <a:prstGeom prst="roundRect">
            <a:avLst>
              <a:gd name="adj" fmla="val 4211"/>
            </a:avLst>
          </a:prstGeom>
          <a:solidFill>
            <a:srgbClr val="E8EBF0"/>
          </a:solidFill>
          <a:ln w="1905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Shape 44"/>
          <p:cNvSpPr/>
          <p:nvPr/>
        </p:nvSpPr>
        <p:spPr>
          <a:xfrm>
            <a:off x="6720840" y="3017520"/>
            <a:ext cx="0" cy="1554480"/>
          </a:xfrm>
          <a:prstGeom prst="line">
            <a:avLst/>
          </a:prstGeom>
          <a:noFill/>
          <a:ln w="889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7" name="Shape 45"/>
          <p:cNvSpPr/>
          <p:nvPr/>
        </p:nvSpPr>
        <p:spPr>
          <a:xfrm>
            <a:off x="4754880" y="3794760"/>
            <a:ext cx="3931920" cy="0"/>
          </a:xfrm>
          <a:prstGeom prst="line">
            <a:avLst/>
          </a:prstGeom>
          <a:noFill/>
          <a:ln w="889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Text 46"/>
          <p:cNvSpPr/>
          <p:nvPr/>
        </p:nvSpPr>
        <p:spPr>
          <a:xfrm>
            <a:off x="3746500" y="3479800"/>
            <a:ext cx="50292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B0BAC9"/>
                </a:solidFill>
              </a:rPr>
              <a:t>[ IMAGE ]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835400" y="3771900"/>
            <a:ext cx="48514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950" dirty="0">
                <a:solidFill>
                  <a:srgbClr val="8A909E"/>
                </a:solidFill>
              </a:rPr>
              <a:t>QRコード / SNS / 連絡先</a:t>
            </a:r>
          </a:p>
        </p:txBody>
      </p:sp>
    </p:spTree>
    <p:extLst>
      <p:ext uri="{BB962C8B-B14F-4D97-AF65-F5344CB8AC3E}">
        <p14:creationId xmlns:p14="http://schemas.microsoft.com/office/powerpoint/2010/main" val="120550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7CCDABA-EDA8-489B-9A9B-A388D52EFDCC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1453cdb4-23c8-4d69-b33d-dbb011f86e2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164</Words>
  <Application>Microsoft Office PowerPoint</Application>
  <PresentationFormat>画面に合わせる (16:9)</PresentationFormat>
  <Paragraphs>67</Paragraphs>
  <Slides>6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Tank Game Proposal Template</dc:title>
  <dc:subject>PptxGenJS Presentation</dc:subject>
  <dc:creator>PptxGenJS</dc:creator>
  <cp:lastModifiedBy>辻井 孝輔</cp:lastModifiedBy>
  <cp:revision>3</cp:revision>
  <dcterms:created xsi:type="dcterms:W3CDTF">2026-06-11T07:49:47Z</dcterms:created>
  <dcterms:modified xsi:type="dcterms:W3CDTF">2026-06-11T13:29:09Z</dcterms:modified>
</cp:coreProperties>
</file>