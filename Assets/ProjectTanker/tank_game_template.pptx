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71" r:id="rId2"/>
    <p:sldId id="262" r:id="rId3"/>
    <p:sldId id="269" r:id="rId4"/>
    <p:sldId id="263" r:id="rId5"/>
    <p:sldId id="264" r:id="rId6"/>
    <p:sldId id="268" r:id="rId7"/>
    <p:sldId id="266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4183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49D06-4A84-34BA-DD3A-0655DBC24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FB156E-ECE9-E641-62C6-0AC2C4710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CE6AF8-0508-C5F9-F862-FC93DC77B8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BF8AC-AD47-B8FE-8972-7B99EB41E5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5211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8750300" y="4914900"/>
            <a:ext cx="365760" cy="2286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8750300" y="49149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8300" y="317500"/>
            <a:ext cx="3937000" cy="448310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508000" y="508000"/>
            <a:ext cx="365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00C2A8"/>
                </a:solidFill>
              </a:rPr>
              <a:t>TITLE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6100" y="889000"/>
            <a:ext cx="3657600" cy="3556000"/>
          </a:xfrm>
          <a:prstGeom prst="roundRect">
            <a:avLst>
              <a:gd name="adj" fmla="val 7273"/>
            </a:avLst>
          </a:prstGeom>
          <a:solidFill>
            <a:srgbClr val="E8EBF0"/>
          </a:solidFill>
          <a:ln w="12700">
            <a:solidFill>
              <a:srgbClr val="B0BAC9"/>
            </a:solidFill>
            <a:prstDash val="dash"/>
          </a:ln>
        </p:spPr>
        <p:txBody>
          <a:bodyPr anchor="ctr" anchorCtr="0"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546100" y="889000"/>
            <a:ext cx="36576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0BAC9"/>
                </a:solidFill>
              </a:rPr>
              <a:t>ゲームタイトル</a:t>
            </a:r>
            <a:endParaRPr lang="en-US" sz="2800" dirty="0"/>
          </a:p>
        </p:txBody>
      </p:sp>
      <p:sp>
        <p:nvSpPr>
          <p:cNvPr id="44" name="Shape 42"/>
          <p:cNvSpPr/>
          <p:nvPr/>
        </p:nvSpPr>
        <p:spPr>
          <a:xfrm>
            <a:off x="4483100" y="317500"/>
            <a:ext cx="4343400" cy="4483100"/>
          </a:xfrm>
          <a:prstGeom prst="roundRect">
            <a:avLst>
              <a:gd name="adj" fmla="val 2254"/>
            </a:avLst>
          </a:prstGeom>
          <a:solidFill>
            <a:srgbClr val="E8EBF0"/>
          </a:solidFill>
          <a:ln w="19050">
            <a:solidFill>
              <a:srgbClr val="B0BAC9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43"/>
          <p:cNvSpPr/>
          <p:nvPr/>
        </p:nvSpPr>
        <p:spPr>
          <a:xfrm>
            <a:off x="7200900" y="411480"/>
            <a:ext cx="0" cy="4297680"/>
          </a:xfrm>
          <a:prstGeom prst="line">
            <a:avLst/>
          </a:prstGeom>
          <a:noFill/>
          <a:ln w="8890">
            <a:solidFill>
              <a:srgbClr val="B0BAC9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Shape 44"/>
          <p:cNvSpPr/>
          <p:nvPr/>
        </p:nvSpPr>
        <p:spPr>
          <a:xfrm>
            <a:off x="5669280" y="2560320"/>
            <a:ext cx="3063240" cy="0"/>
          </a:xfrm>
          <a:prstGeom prst="line">
            <a:avLst/>
          </a:prstGeom>
          <a:noFill/>
          <a:ln w="8890">
            <a:solidFill>
              <a:srgbClr val="B0BAC9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4483100" y="2235200"/>
            <a:ext cx="434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B0BAC9"/>
                </a:solidFill>
              </a:rPr>
              <a:t>[ IMAGE ]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0" y="2540000"/>
            <a:ext cx="41656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50" dirty="0">
                <a:solidFill>
                  <a:srgbClr val="8A909E"/>
                </a:solidFill>
              </a:rPr>
              <a:t>キーアート / スクリーンショット</a:t>
            </a:r>
          </a:p>
        </p:txBody>
      </p:sp>
    </p:spTree>
    <p:extLst>
      <p:ext uri="{BB962C8B-B14F-4D97-AF65-F5344CB8AC3E}">
        <p14:creationId xmlns:p14="http://schemas.microsoft.com/office/powerpoint/2010/main" val="2918241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四角形: 角を丸くする 52">
            <a:extLst>
              <a:ext uri="{FF2B5EF4-FFF2-40B4-BE49-F238E27FC236}">
                <a16:creationId xmlns:a16="http://schemas.microsoft.com/office/drawing/2014/main" id="{E7D27420-4BEC-434A-83F4-9D5E9F136FEC}"/>
              </a:ext>
            </a:extLst>
          </p:cNvPr>
          <p:cNvSpPr/>
          <p:nvPr/>
        </p:nvSpPr>
        <p:spPr>
          <a:xfrm>
            <a:off x="368300" y="2095500"/>
            <a:ext cx="3200400" cy="2667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" name="Shape 0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8750300" y="4914900"/>
            <a:ext cx="365760" cy="2286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8750300" y="49149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00C2A8"/>
                </a:solidFill>
              </a:rPr>
              <a:t>GAME OVERVIEW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ゲームの概要</a:t>
            </a:r>
            <a:endParaRPr lang="en-US" sz="3200" dirty="0"/>
          </a:p>
        </p:txBody>
      </p:sp>
      <p:sp>
        <p:nvSpPr>
          <p:cNvPr id="36" name="Shape 34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368300" y="1422400"/>
            <a:ext cx="3200400" cy="5715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546100" y="1549400"/>
            <a:ext cx="2832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D23"/>
                </a:solidFill>
              </a:rPr>
              <a:t>ゲーム説明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46100" y="2222500"/>
            <a:ext cx="2832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D23"/>
                </a:solidFill>
              </a:rPr>
              <a:t>基本情報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720840" y="1485900"/>
            <a:ext cx="0" cy="3213100"/>
          </a:xfrm>
          <a:prstGeom prst="line">
            <a:avLst/>
          </a:prstGeom>
          <a:noFill/>
          <a:ln w="8890">
            <a:solidFill>
              <a:srgbClr val="B0BAC9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45"/>
          <p:cNvSpPr/>
          <p:nvPr/>
        </p:nvSpPr>
        <p:spPr>
          <a:xfrm>
            <a:off x="4754880" y="3092450"/>
            <a:ext cx="3931920" cy="0"/>
          </a:xfrm>
          <a:prstGeom prst="line">
            <a:avLst/>
          </a:prstGeom>
          <a:noFill/>
          <a:ln w="8890">
            <a:solidFill>
              <a:srgbClr val="B0BAC9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50" name="グループ化 49">
            <a:extLst>
              <a:ext uri="{FF2B5EF4-FFF2-40B4-BE49-F238E27FC236}">
                <a16:creationId xmlns:a16="http://schemas.microsoft.com/office/drawing/2014/main" id="{615FB107-0F65-2BD2-9469-DF2EA547864D}"/>
              </a:ext>
            </a:extLst>
          </p:cNvPr>
          <p:cNvGrpSpPr/>
          <p:nvPr/>
        </p:nvGrpSpPr>
        <p:grpSpPr>
          <a:xfrm>
            <a:off x="3746500" y="1422400"/>
            <a:ext cx="5029200" cy="3340100"/>
            <a:chOff x="3746500" y="1828800"/>
            <a:chExt cx="5029200" cy="2882900"/>
          </a:xfrm>
        </p:grpSpPr>
        <p:sp>
          <p:nvSpPr>
            <p:cNvPr id="45" name="Shape 43"/>
            <p:cNvSpPr/>
            <p:nvPr/>
          </p:nvSpPr>
          <p:spPr>
            <a:xfrm>
              <a:off x="3746500" y="1828800"/>
              <a:ext cx="5029200" cy="2882900"/>
            </a:xfrm>
            <a:prstGeom prst="roundRect">
              <a:avLst>
                <a:gd name="adj" fmla="val 2222"/>
              </a:avLst>
            </a:prstGeom>
            <a:solidFill>
              <a:srgbClr val="E8EBF0"/>
            </a:solidFill>
            <a:ln w="19050">
              <a:solidFill>
                <a:srgbClr val="B0BAC9"/>
              </a:solidFill>
              <a:prstDash val="dash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8" name="Text 46"/>
            <p:cNvSpPr/>
            <p:nvPr/>
          </p:nvSpPr>
          <p:spPr>
            <a:xfrm>
              <a:off x="3746500" y="2743200"/>
              <a:ext cx="5029200" cy="279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kern="0" spc="200" dirty="0">
                  <a:solidFill>
                    <a:srgbClr val="B0BAC9"/>
                  </a:solidFill>
                </a:rPr>
                <a:t>[ IMAGE ]</a:t>
              </a:r>
              <a:endParaRPr lang="en-US" sz="10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3835400" y="3048000"/>
              <a:ext cx="4851400" cy="1384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35000"/>
                </a:lnSpc>
                <a:buNone/>
              </a:pPr>
              <a:r>
                <a:rPr lang="en-US" sz="950" dirty="0">
                  <a:solidFill>
                    <a:srgbClr val="8A909E"/>
                  </a:solidFill>
                </a:rPr>
                <a:t>ゲームプレイ画面のスクリーンショット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5029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5F8C4E-F75D-2937-6293-9F5C74C1C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2BAA6A0-74BF-7971-7434-5130A1BD9B35}"/>
              </a:ext>
            </a:extLst>
          </p:cNvPr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536E2F0-74DE-5546-65FE-451479D023B1}"/>
              </a:ext>
            </a:extLst>
          </p:cNvPr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D01EAB7-1FFF-B8B6-DB29-0A5638AB1284}"/>
              </a:ext>
            </a:extLst>
          </p:cNvPr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0AD364C-1C12-3954-8BD8-21FF6E783749}"/>
              </a:ext>
            </a:extLst>
          </p:cNvPr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36C9897-8D1D-6C13-5BC0-0048DEC51EC6}"/>
              </a:ext>
            </a:extLst>
          </p:cNvPr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A331670-2EB1-B8C0-2EE8-5C3BAF175FBE}"/>
              </a:ext>
            </a:extLst>
          </p:cNvPr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99FD7D2-96A6-51C7-7A28-D23C42CCE85E}"/>
              </a:ext>
            </a:extLst>
          </p:cNvPr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197F945-8AF6-8AD4-C5BD-59BBCAD90A5D}"/>
              </a:ext>
            </a:extLst>
          </p:cNvPr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0964321-4166-2C42-BD2F-37D5442137D5}"/>
              </a:ext>
            </a:extLst>
          </p:cNvPr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D892E38-FA70-52F6-43C1-1A3BC3FF0694}"/>
              </a:ext>
            </a:extLst>
          </p:cNvPr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9742708-F7F0-66E9-7D26-7485EB21D170}"/>
              </a:ext>
            </a:extLst>
          </p:cNvPr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EB5510A-3936-B3C8-307B-73E0794936F4}"/>
              </a:ext>
            </a:extLst>
          </p:cNvPr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F3D3827-4696-3563-2D2E-825CBDE06F02}"/>
              </a:ext>
            </a:extLst>
          </p:cNvPr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A15EF27-E88E-0419-388A-577349730957}"/>
              </a:ext>
            </a:extLst>
          </p:cNvPr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CFB3C15-A0BD-AD41-EC6C-A17E88C09840}"/>
              </a:ext>
            </a:extLst>
          </p:cNvPr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020EA41-2DF5-468F-8016-3215817F7F4F}"/>
              </a:ext>
            </a:extLst>
          </p:cNvPr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034C9C2-579E-0461-FD92-79AB56199667}"/>
              </a:ext>
            </a:extLst>
          </p:cNvPr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C40E537-9030-30D6-B65D-0F4AC22E3A3C}"/>
              </a:ext>
            </a:extLst>
          </p:cNvPr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A92D2A0-5750-0AC7-2C7B-8542FAE533A7}"/>
              </a:ext>
            </a:extLst>
          </p:cNvPr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85C34C4-253A-A593-A725-B4A847E9285C}"/>
              </a:ext>
            </a:extLst>
          </p:cNvPr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9991E52-8123-7D3E-A2E7-44A5593FD04B}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1622A4C-1B58-709F-F75F-BFF7341C6994}"/>
              </a:ext>
            </a:extLst>
          </p:cNvPr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90F2963-9614-8D6B-64D1-41D4CAF8F9EB}"/>
              </a:ext>
            </a:extLst>
          </p:cNvPr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69D183A1-E76D-5B61-66D3-A02887A904D3}"/>
              </a:ext>
            </a:extLst>
          </p:cNvPr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02905343-4BB8-939F-B0EB-AAA6640175EE}"/>
              </a:ext>
            </a:extLst>
          </p:cNvPr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9B95786A-D211-1026-26BA-12D60A9ABC3B}"/>
              </a:ext>
            </a:extLst>
          </p:cNvPr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07037C83-286A-E77C-DAD9-E95FD17FC9FF}"/>
              </a:ext>
            </a:extLst>
          </p:cNvPr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E86A383D-0700-0EDC-C8CC-029A68A9EC8C}"/>
              </a:ext>
            </a:extLst>
          </p:cNvPr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728EC3B4-D5ED-4D39-68CA-2E1FEADD8DCE}"/>
              </a:ext>
            </a:extLst>
          </p:cNvPr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391D8ADA-97B5-A4DB-CC6A-836ECF32F374}"/>
              </a:ext>
            </a:extLst>
          </p:cNvPr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9D34E589-6ECE-4FAC-9DA5-C855AE5B290E}"/>
              </a:ext>
            </a:extLst>
          </p:cNvPr>
          <p:cNvSpPr/>
          <p:nvPr/>
        </p:nvSpPr>
        <p:spPr>
          <a:xfrm>
            <a:off x="8750300" y="4914900"/>
            <a:ext cx="365760" cy="2286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964F3096-9882-1BA0-1C12-BCCE79566414}"/>
              </a:ext>
            </a:extLst>
          </p:cNvPr>
          <p:cNvSpPr/>
          <p:nvPr/>
        </p:nvSpPr>
        <p:spPr>
          <a:xfrm>
            <a:off x="8750300" y="49149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C1A359DA-7C9D-6489-0E32-3DD0D5830094}"/>
              </a:ext>
            </a:extLst>
          </p:cNvPr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300" dirty="0">
                <a:solidFill>
                  <a:srgbClr val="00C2A8"/>
                </a:solidFill>
              </a:rPr>
              <a:t>GAME FEATURES</a:t>
            </a:r>
            <a:endParaRPr lang="en-US" sz="8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C143E098-5D1F-7B64-6D65-4EA1DE072B52}"/>
              </a:ext>
            </a:extLst>
          </p:cNvPr>
          <p:cNvSpPr/>
          <p:nvPr/>
        </p:nvSpPr>
        <p:spPr>
          <a:xfrm>
            <a:off x="457200" y="4389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最大の特徴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F86E7E4D-D06F-19EF-E43F-B36B9685877E}"/>
              </a:ext>
            </a:extLst>
          </p:cNvPr>
          <p:cNvSpPr/>
          <p:nvPr/>
        </p:nvSpPr>
        <p:spPr>
          <a:xfrm>
            <a:off x="434528" y="1028699"/>
            <a:ext cx="8229600" cy="0"/>
          </a:xfrm>
          <a:prstGeom prst="line">
            <a:avLst/>
          </a:prstGeom>
          <a:noFill/>
          <a:ln w="1270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1A071541-43B8-D98F-997C-376A903D3E27}"/>
              </a:ext>
            </a:extLst>
          </p:cNvPr>
          <p:cNvSpPr/>
          <p:nvPr/>
        </p:nvSpPr>
        <p:spPr>
          <a:xfrm>
            <a:off x="368298" y="1422400"/>
            <a:ext cx="4082587" cy="5715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F9554F3E-2287-D9EE-618C-B508B9F4C5DB}"/>
              </a:ext>
            </a:extLst>
          </p:cNvPr>
          <p:cNvSpPr/>
          <p:nvPr/>
        </p:nvSpPr>
        <p:spPr>
          <a:xfrm>
            <a:off x="6720840" y="2880360"/>
            <a:ext cx="0" cy="1737360"/>
          </a:xfrm>
          <a:prstGeom prst="line">
            <a:avLst/>
          </a:prstGeom>
          <a:noFill/>
          <a:ln w="8890">
            <a:solidFill>
              <a:srgbClr val="B0BAC9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CD5AC532-9043-E6E6-EDE2-9730635D77DB}"/>
              </a:ext>
            </a:extLst>
          </p:cNvPr>
          <p:cNvSpPr/>
          <p:nvPr/>
        </p:nvSpPr>
        <p:spPr>
          <a:xfrm>
            <a:off x="4754880" y="3749040"/>
            <a:ext cx="3931920" cy="0"/>
          </a:xfrm>
          <a:prstGeom prst="line">
            <a:avLst/>
          </a:prstGeom>
          <a:noFill/>
          <a:ln w="8890">
            <a:solidFill>
              <a:srgbClr val="B0BAC9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50" name="グループ化 49">
            <a:extLst>
              <a:ext uri="{FF2B5EF4-FFF2-40B4-BE49-F238E27FC236}">
                <a16:creationId xmlns:a16="http://schemas.microsoft.com/office/drawing/2014/main" id="{25B17614-9333-95EC-D3A7-8926439FABC7}"/>
              </a:ext>
            </a:extLst>
          </p:cNvPr>
          <p:cNvGrpSpPr/>
          <p:nvPr/>
        </p:nvGrpSpPr>
        <p:grpSpPr>
          <a:xfrm>
            <a:off x="368302" y="2095500"/>
            <a:ext cx="4066539" cy="2667000"/>
            <a:chOff x="3746500" y="2794000"/>
            <a:chExt cx="5029200" cy="1917700"/>
          </a:xfrm>
        </p:grpSpPr>
        <p:sp>
          <p:nvSpPr>
            <p:cNvPr id="45" name="Shape 43">
              <a:extLst>
                <a:ext uri="{FF2B5EF4-FFF2-40B4-BE49-F238E27FC236}">
                  <a16:creationId xmlns:a16="http://schemas.microsoft.com/office/drawing/2014/main" id="{6B766114-A599-2CC5-8349-C4C97FA9E1CA}"/>
                </a:ext>
              </a:extLst>
            </p:cNvPr>
            <p:cNvSpPr/>
            <p:nvPr/>
          </p:nvSpPr>
          <p:spPr>
            <a:xfrm>
              <a:off x="3746500" y="2794000"/>
              <a:ext cx="5029200" cy="1917700"/>
            </a:xfrm>
            <a:prstGeom prst="roundRect">
              <a:avLst>
                <a:gd name="adj" fmla="val 3810"/>
              </a:avLst>
            </a:prstGeom>
            <a:solidFill>
              <a:srgbClr val="E8EBF0"/>
            </a:solidFill>
            <a:ln w="19050">
              <a:solidFill>
                <a:srgbClr val="B0BAC9"/>
              </a:solidFill>
              <a:prstDash val="dash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8" name="Text 46">
              <a:extLst>
                <a:ext uri="{FF2B5EF4-FFF2-40B4-BE49-F238E27FC236}">
                  <a16:creationId xmlns:a16="http://schemas.microsoft.com/office/drawing/2014/main" id="{A2DA7214-8F2D-84DB-8DDA-BAB74DC6181E}"/>
                </a:ext>
              </a:extLst>
            </p:cNvPr>
            <p:cNvSpPr/>
            <p:nvPr/>
          </p:nvSpPr>
          <p:spPr>
            <a:xfrm>
              <a:off x="3746500" y="3429000"/>
              <a:ext cx="5029200" cy="279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ja-JP" sz="1000" b="1" kern="0" spc="200" dirty="0">
                  <a:solidFill>
                    <a:srgbClr val="B0BAC9"/>
                  </a:solidFill>
                </a:rPr>
                <a:t>[ VIDEO ]</a:t>
              </a:r>
              <a:endParaRPr lang="en-US" altLang="ja-JP" sz="1000" dirty="0"/>
            </a:p>
          </p:txBody>
        </p:sp>
        <p:sp>
          <p:nvSpPr>
            <p:cNvPr id="49" name="Text 47">
              <a:extLst>
                <a:ext uri="{FF2B5EF4-FFF2-40B4-BE49-F238E27FC236}">
                  <a16:creationId xmlns:a16="http://schemas.microsoft.com/office/drawing/2014/main" id="{13146C16-6691-3270-17B7-C32A3B46AAD9}"/>
                </a:ext>
              </a:extLst>
            </p:cNvPr>
            <p:cNvSpPr/>
            <p:nvPr/>
          </p:nvSpPr>
          <p:spPr>
            <a:xfrm>
              <a:off x="3835400" y="3733800"/>
              <a:ext cx="4851400" cy="812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35000"/>
                </a:lnSpc>
                <a:buNone/>
              </a:pPr>
              <a:r>
                <a:rPr lang="ja-JP" altLang="en-US" sz="950" dirty="0">
                  <a:solidFill>
                    <a:srgbClr val="8A909E"/>
                  </a:solidFill>
                </a:rPr>
                <a:t>反射を利用したパズル・戦闘</a:t>
              </a:r>
              <a:endParaRPr lang="en-US" sz="950" dirty="0">
                <a:solidFill>
                  <a:srgbClr val="8A909E"/>
                </a:solidFill>
              </a:endParaRPr>
            </a:p>
          </p:txBody>
        </p:sp>
      </p:grpSp>
      <p:sp>
        <p:nvSpPr>
          <p:cNvPr id="51" name="Shape 35">
            <a:extLst>
              <a:ext uri="{FF2B5EF4-FFF2-40B4-BE49-F238E27FC236}">
                <a16:creationId xmlns:a16="http://schemas.microsoft.com/office/drawing/2014/main" id="{28C85677-B454-15BA-1B52-C570D45F26DA}"/>
              </a:ext>
            </a:extLst>
          </p:cNvPr>
          <p:cNvSpPr/>
          <p:nvPr/>
        </p:nvSpPr>
        <p:spPr>
          <a:xfrm>
            <a:off x="4693114" y="1422400"/>
            <a:ext cx="4082586" cy="5715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90056953-662A-C796-9512-73466FF91A3A}"/>
              </a:ext>
            </a:extLst>
          </p:cNvPr>
          <p:cNvGrpSpPr/>
          <p:nvPr/>
        </p:nvGrpSpPr>
        <p:grpSpPr>
          <a:xfrm>
            <a:off x="4693114" y="2095500"/>
            <a:ext cx="4082585" cy="2667000"/>
            <a:chOff x="3746500" y="2794000"/>
            <a:chExt cx="5029200" cy="1917700"/>
          </a:xfrm>
        </p:grpSpPr>
        <p:sp>
          <p:nvSpPr>
            <p:cNvPr id="53" name="Shape 43">
              <a:extLst>
                <a:ext uri="{FF2B5EF4-FFF2-40B4-BE49-F238E27FC236}">
                  <a16:creationId xmlns:a16="http://schemas.microsoft.com/office/drawing/2014/main" id="{5D7FEDC7-A2DA-0DBF-AF56-BEFC50397004}"/>
                </a:ext>
              </a:extLst>
            </p:cNvPr>
            <p:cNvSpPr/>
            <p:nvPr/>
          </p:nvSpPr>
          <p:spPr>
            <a:xfrm>
              <a:off x="3746500" y="2794000"/>
              <a:ext cx="5029200" cy="1917700"/>
            </a:xfrm>
            <a:prstGeom prst="roundRect">
              <a:avLst>
                <a:gd name="adj" fmla="val 3810"/>
              </a:avLst>
            </a:prstGeom>
            <a:solidFill>
              <a:srgbClr val="E8EBF0"/>
            </a:solidFill>
            <a:ln w="19050">
              <a:solidFill>
                <a:srgbClr val="B0BAC9"/>
              </a:solidFill>
              <a:prstDash val="dash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4" name="Text 46">
              <a:extLst>
                <a:ext uri="{FF2B5EF4-FFF2-40B4-BE49-F238E27FC236}">
                  <a16:creationId xmlns:a16="http://schemas.microsoft.com/office/drawing/2014/main" id="{94FFF368-3AC7-8C45-BA5C-D41415AFF957}"/>
                </a:ext>
              </a:extLst>
            </p:cNvPr>
            <p:cNvSpPr/>
            <p:nvPr/>
          </p:nvSpPr>
          <p:spPr>
            <a:xfrm>
              <a:off x="3746500" y="3429000"/>
              <a:ext cx="5029200" cy="279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ja-JP" sz="1000" b="1" kern="0" spc="200" dirty="0">
                  <a:solidFill>
                    <a:srgbClr val="B0BAC9"/>
                  </a:solidFill>
                </a:rPr>
                <a:t>[ VIDEO ]</a:t>
              </a:r>
              <a:endParaRPr lang="en-US" altLang="ja-JP" sz="1000" dirty="0"/>
            </a:p>
          </p:txBody>
        </p:sp>
        <p:sp>
          <p:nvSpPr>
            <p:cNvPr id="55" name="Text 47">
              <a:extLst>
                <a:ext uri="{FF2B5EF4-FFF2-40B4-BE49-F238E27FC236}">
                  <a16:creationId xmlns:a16="http://schemas.microsoft.com/office/drawing/2014/main" id="{DD0EDFC5-19DC-1BEE-FDF9-7BD4EA329A9B}"/>
                </a:ext>
              </a:extLst>
            </p:cNvPr>
            <p:cNvSpPr/>
            <p:nvPr/>
          </p:nvSpPr>
          <p:spPr>
            <a:xfrm>
              <a:off x="3835400" y="3733800"/>
              <a:ext cx="4851400" cy="812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35000"/>
                </a:lnSpc>
                <a:buNone/>
              </a:pPr>
              <a:r>
                <a:rPr lang="ja-JP" altLang="en-US" sz="950" dirty="0">
                  <a:solidFill>
                    <a:srgbClr val="8A909E"/>
                  </a:solidFill>
                </a:rPr>
                <a:t>戦車の操作感をキー説明付きで</a:t>
              </a:r>
              <a:r>
                <a:rPr lang="en-US" altLang="ja-JP" sz="950" dirty="0">
                  <a:solidFill>
                    <a:srgbClr val="8A909E"/>
                  </a:solidFill>
                </a:rPr>
                <a:t>(</a:t>
              </a:r>
              <a:r>
                <a:rPr lang="ja-JP" altLang="en-US" sz="950" dirty="0">
                  <a:solidFill>
                    <a:srgbClr val="8A909E"/>
                  </a:solidFill>
                </a:rPr>
                <a:t>どのキーを押しているか</a:t>
              </a:r>
              <a:r>
                <a:rPr lang="en-US" altLang="ja-JP" sz="950" dirty="0">
                  <a:solidFill>
                    <a:srgbClr val="8A909E"/>
                  </a:solidFill>
                </a:rPr>
                <a:t>)</a:t>
              </a:r>
            </a:p>
          </p:txBody>
        </p:sp>
      </p:grpSp>
      <p:sp>
        <p:nvSpPr>
          <p:cNvPr id="57" name="Text 36">
            <a:extLst>
              <a:ext uri="{FF2B5EF4-FFF2-40B4-BE49-F238E27FC236}">
                <a16:creationId xmlns:a16="http://schemas.microsoft.com/office/drawing/2014/main" id="{629829E6-3658-C007-6E7C-35CF6AC475AA}"/>
              </a:ext>
            </a:extLst>
          </p:cNvPr>
          <p:cNvSpPr/>
          <p:nvPr/>
        </p:nvSpPr>
        <p:spPr>
          <a:xfrm>
            <a:off x="546100" y="1549400"/>
            <a:ext cx="2832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rgbClr val="1A1D23"/>
                </a:solidFill>
              </a:rPr>
              <a:t>反射</a:t>
            </a:r>
            <a:endParaRPr lang="en-US" sz="1400" dirty="0"/>
          </a:p>
        </p:txBody>
      </p:sp>
      <p:sp>
        <p:nvSpPr>
          <p:cNvPr id="59" name="Text 36">
            <a:extLst>
              <a:ext uri="{FF2B5EF4-FFF2-40B4-BE49-F238E27FC236}">
                <a16:creationId xmlns:a16="http://schemas.microsoft.com/office/drawing/2014/main" id="{8E59DD65-D621-AFA9-CD25-655B392CF11F}"/>
              </a:ext>
            </a:extLst>
          </p:cNvPr>
          <p:cNvSpPr/>
          <p:nvPr/>
        </p:nvSpPr>
        <p:spPr>
          <a:xfrm>
            <a:off x="4819183" y="1549400"/>
            <a:ext cx="2832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rgbClr val="1A1D23"/>
                </a:solidFill>
              </a:rPr>
              <a:t>戦車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39781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8750300" y="4914900"/>
            <a:ext cx="365760" cy="2286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8750300" y="49149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00C2A8"/>
                </a:solidFill>
              </a:rPr>
              <a:t>CONTROLS &amp; EFFECTS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操作感とエフェクト・演出</a:t>
            </a:r>
            <a:endParaRPr lang="en-US" sz="3200" dirty="0"/>
          </a:p>
        </p:txBody>
      </p:sp>
      <p:sp>
        <p:nvSpPr>
          <p:cNvPr id="36" name="Shape 34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368300" y="1422400"/>
            <a:ext cx="3200400" cy="5715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546100" y="1549400"/>
            <a:ext cx="2832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D23"/>
                </a:solidFill>
              </a:rPr>
              <a:t>操作感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8300" y="2095500"/>
            <a:ext cx="3200400" cy="571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546100" y="2222500"/>
            <a:ext cx="2832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D23"/>
                </a:solidFill>
              </a:rPr>
              <a:t>エフェクト・演出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746500" y="1422400"/>
            <a:ext cx="5029200" cy="571500"/>
          </a:xfrm>
          <a:prstGeom prst="roundRect">
            <a:avLst>
              <a:gd name="adj" fmla="val 4848"/>
            </a:avLst>
          </a:prstGeom>
          <a:solidFill>
            <a:srgbClr val="E8EBF0"/>
          </a:solidFill>
          <a:ln w="19050">
            <a:solidFill>
              <a:srgbClr val="B0BAC9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Shape 44"/>
          <p:cNvSpPr/>
          <p:nvPr/>
        </p:nvSpPr>
        <p:spPr>
          <a:xfrm>
            <a:off x="6720840" y="1485900"/>
            <a:ext cx="0" cy="444500"/>
          </a:xfrm>
          <a:prstGeom prst="line">
            <a:avLst/>
          </a:prstGeom>
          <a:noFill/>
          <a:ln w="8890">
            <a:solidFill>
              <a:srgbClr val="B0BAC9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45"/>
          <p:cNvSpPr/>
          <p:nvPr/>
        </p:nvSpPr>
        <p:spPr>
          <a:xfrm>
            <a:off x="4754880" y="1708150"/>
            <a:ext cx="3931920" cy="0"/>
          </a:xfrm>
          <a:prstGeom prst="line">
            <a:avLst/>
          </a:prstGeom>
          <a:noFill/>
          <a:ln w="8890">
            <a:solidFill>
              <a:srgbClr val="B0BAC9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3746500" y="1485900"/>
            <a:ext cx="5029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kern="0" spc="200" dirty="0">
                <a:solidFill>
                  <a:srgbClr val="B0BAC9"/>
                </a:solidFill>
              </a:rPr>
              <a:t>[ VIDEO ]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835400" y="1727200"/>
            <a:ext cx="4851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50" dirty="0" err="1">
                <a:solidFill>
                  <a:srgbClr val="8A909E"/>
                </a:solidFill>
              </a:rPr>
              <a:t>操作シーンの</a:t>
            </a:r>
            <a:r>
              <a:rPr lang="ja-JP" altLang="en-US" sz="950" dirty="0">
                <a:solidFill>
                  <a:srgbClr val="8A909E"/>
                </a:solidFill>
              </a:rPr>
              <a:t>短い映像</a:t>
            </a:r>
            <a:endParaRPr lang="en-US" sz="950" dirty="0">
              <a:solidFill>
                <a:srgbClr val="8A909E"/>
              </a:solidFill>
            </a:endParaRPr>
          </a:p>
        </p:txBody>
      </p:sp>
      <p:sp>
        <p:nvSpPr>
          <p:cNvPr id="50" name="Shape 48"/>
          <p:cNvSpPr/>
          <p:nvPr/>
        </p:nvSpPr>
        <p:spPr>
          <a:xfrm>
            <a:off x="3746500" y="2095500"/>
            <a:ext cx="5029200" cy="571500"/>
          </a:xfrm>
          <a:prstGeom prst="roundRect">
            <a:avLst>
              <a:gd name="adj" fmla="val 4444"/>
            </a:avLst>
          </a:prstGeom>
          <a:solidFill>
            <a:srgbClr val="E8EBF0"/>
          </a:solidFill>
          <a:ln w="19050">
            <a:solidFill>
              <a:srgbClr val="B0BAC9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Shape 49"/>
          <p:cNvSpPr/>
          <p:nvPr/>
        </p:nvSpPr>
        <p:spPr>
          <a:xfrm>
            <a:off x="6720840" y="2159000"/>
            <a:ext cx="0" cy="444500"/>
          </a:xfrm>
          <a:prstGeom prst="line">
            <a:avLst/>
          </a:prstGeom>
          <a:noFill/>
          <a:ln w="8890">
            <a:solidFill>
              <a:srgbClr val="B0BAC9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Shape 50"/>
          <p:cNvSpPr/>
          <p:nvPr/>
        </p:nvSpPr>
        <p:spPr>
          <a:xfrm>
            <a:off x="4754880" y="2381250"/>
            <a:ext cx="3931920" cy="0"/>
          </a:xfrm>
          <a:prstGeom prst="line">
            <a:avLst/>
          </a:prstGeom>
          <a:noFill/>
          <a:ln w="8890">
            <a:solidFill>
              <a:srgbClr val="B0BAC9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3746500" y="2159000"/>
            <a:ext cx="5029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kern="0" spc="200" dirty="0">
                <a:solidFill>
                  <a:srgbClr val="B0BAC9"/>
                </a:solidFill>
              </a:rPr>
              <a:t>[ VIDEO ]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835400" y="2400300"/>
            <a:ext cx="4851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50" dirty="0" err="1">
                <a:solidFill>
                  <a:srgbClr val="8A909E"/>
                </a:solidFill>
              </a:rPr>
              <a:t>エフェクト演出の</a:t>
            </a:r>
            <a:r>
              <a:rPr lang="ja-JP" altLang="en-US" sz="950" dirty="0">
                <a:solidFill>
                  <a:srgbClr val="8A909E"/>
                </a:solidFill>
              </a:rPr>
              <a:t>短い映像</a:t>
            </a:r>
            <a:endParaRPr lang="en-US" sz="950" dirty="0">
              <a:solidFill>
                <a:srgbClr val="8A909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7759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8750300" y="4914900"/>
            <a:ext cx="365760" cy="2286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8750300" y="49149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00C2A8"/>
                </a:solidFill>
              </a:rPr>
              <a:t>MODULE CUSTOMIZATION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4389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モジュールでのカスタマイズ</a:t>
            </a:r>
            <a:endParaRPr lang="en-US" sz="3200" dirty="0"/>
          </a:p>
        </p:txBody>
      </p:sp>
      <p:sp>
        <p:nvSpPr>
          <p:cNvPr id="36" name="Shape 34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368300" y="1422400"/>
            <a:ext cx="4203700" cy="5715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548640" y="1549400"/>
            <a:ext cx="3803907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ja-JP" altLang="en-US" sz="1400" b="1" dirty="0">
                <a:solidFill>
                  <a:srgbClr val="1A1D23"/>
                </a:solidFill>
              </a:rPr>
              <a:t>数字が強くなるではない</a:t>
            </a:r>
            <a:endParaRPr lang="en-US" sz="1400" dirty="0"/>
          </a:p>
        </p:txBody>
      </p:sp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AF7A5210-439A-1593-A0D3-5975E5666B31}"/>
              </a:ext>
            </a:extLst>
          </p:cNvPr>
          <p:cNvGrpSpPr/>
          <p:nvPr/>
        </p:nvGrpSpPr>
        <p:grpSpPr>
          <a:xfrm>
            <a:off x="365761" y="2095500"/>
            <a:ext cx="4206237" cy="2667000"/>
            <a:chOff x="3746500" y="2794000"/>
            <a:chExt cx="5029200" cy="1917700"/>
          </a:xfrm>
        </p:grpSpPr>
        <p:sp>
          <p:nvSpPr>
            <p:cNvPr id="45" name="Shape 43"/>
            <p:cNvSpPr/>
            <p:nvPr/>
          </p:nvSpPr>
          <p:spPr>
            <a:xfrm>
              <a:off x="3746500" y="2794000"/>
              <a:ext cx="5029200" cy="1917700"/>
            </a:xfrm>
            <a:prstGeom prst="roundRect">
              <a:avLst>
                <a:gd name="adj" fmla="val 3810"/>
              </a:avLst>
            </a:prstGeom>
            <a:solidFill>
              <a:srgbClr val="E8EBF0"/>
            </a:solidFill>
            <a:ln w="19050">
              <a:solidFill>
                <a:srgbClr val="B0BAC9"/>
              </a:solidFill>
              <a:prstDash val="dash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8" name="Text 46"/>
            <p:cNvSpPr/>
            <p:nvPr/>
          </p:nvSpPr>
          <p:spPr>
            <a:xfrm>
              <a:off x="3746500" y="3429000"/>
              <a:ext cx="5029200" cy="279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kern="0" spc="200" dirty="0">
                  <a:solidFill>
                    <a:srgbClr val="B0BAC9"/>
                  </a:solidFill>
                </a:rPr>
                <a:t>[ IMAGE ]</a:t>
              </a:r>
              <a:endParaRPr lang="en-US" sz="10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3835400" y="3733800"/>
              <a:ext cx="4851400" cy="812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35000"/>
                </a:lnSpc>
              </a:pPr>
              <a:r>
                <a:rPr lang="ja-JP" altLang="en-US" sz="950" dirty="0">
                  <a:solidFill>
                    <a:srgbClr val="8A909E"/>
                  </a:solidFill>
                </a:rPr>
                <a:t>モジュールで生まれる効果の例</a:t>
              </a:r>
              <a:r>
                <a:rPr lang="en-US" altLang="ja-JP" sz="950" dirty="0">
                  <a:solidFill>
                    <a:srgbClr val="8A909E"/>
                  </a:solidFill>
                </a:rPr>
                <a:t>1</a:t>
              </a:r>
              <a:r>
                <a:rPr lang="en-US" sz="950" dirty="0">
                  <a:solidFill>
                    <a:srgbClr val="8A909E"/>
                  </a:solidFill>
                </a:rPr>
                <a:t> </a:t>
              </a:r>
            </a:p>
          </p:txBody>
        </p:sp>
      </p:grpSp>
      <p:grpSp>
        <p:nvGrpSpPr>
          <p:cNvPr id="54" name="グループ化 53">
            <a:extLst>
              <a:ext uri="{FF2B5EF4-FFF2-40B4-BE49-F238E27FC236}">
                <a16:creationId xmlns:a16="http://schemas.microsoft.com/office/drawing/2014/main" id="{113056BD-90CF-C2E5-A89C-15014F79C1DA}"/>
              </a:ext>
            </a:extLst>
          </p:cNvPr>
          <p:cNvGrpSpPr/>
          <p:nvPr/>
        </p:nvGrpSpPr>
        <p:grpSpPr>
          <a:xfrm>
            <a:off x="4660898" y="2095500"/>
            <a:ext cx="4206237" cy="2667000"/>
            <a:chOff x="3746500" y="2794000"/>
            <a:chExt cx="5029200" cy="1917700"/>
          </a:xfrm>
        </p:grpSpPr>
        <p:sp>
          <p:nvSpPr>
            <p:cNvPr id="55" name="Shape 43">
              <a:extLst>
                <a:ext uri="{FF2B5EF4-FFF2-40B4-BE49-F238E27FC236}">
                  <a16:creationId xmlns:a16="http://schemas.microsoft.com/office/drawing/2014/main" id="{DCDBB948-A045-1C9E-0BAA-0E344A650297}"/>
                </a:ext>
              </a:extLst>
            </p:cNvPr>
            <p:cNvSpPr/>
            <p:nvPr/>
          </p:nvSpPr>
          <p:spPr>
            <a:xfrm>
              <a:off x="3746500" y="2794000"/>
              <a:ext cx="5029200" cy="1917700"/>
            </a:xfrm>
            <a:prstGeom prst="roundRect">
              <a:avLst>
                <a:gd name="adj" fmla="val 3810"/>
              </a:avLst>
            </a:prstGeom>
            <a:solidFill>
              <a:srgbClr val="E8EBF0"/>
            </a:solidFill>
            <a:ln w="19050">
              <a:solidFill>
                <a:srgbClr val="B0BAC9"/>
              </a:solidFill>
              <a:prstDash val="dash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6" name="Text 46">
              <a:extLst>
                <a:ext uri="{FF2B5EF4-FFF2-40B4-BE49-F238E27FC236}">
                  <a16:creationId xmlns:a16="http://schemas.microsoft.com/office/drawing/2014/main" id="{7927C265-9DA5-3AD7-10AC-D46B3FE33FDD}"/>
                </a:ext>
              </a:extLst>
            </p:cNvPr>
            <p:cNvSpPr/>
            <p:nvPr/>
          </p:nvSpPr>
          <p:spPr>
            <a:xfrm>
              <a:off x="3746500" y="3429000"/>
              <a:ext cx="5029200" cy="279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kern="0" spc="200" dirty="0">
                  <a:solidFill>
                    <a:srgbClr val="B0BAC9"/>
                  </a:solidFill>
                </a:rPr>
                <a:t>[ IMAGE ]</a:t>
              </a:r>
              <a:endParaRPr lang="en-US" sz="1000" dirty="0"/>
            </a:p>
          </p:txBody>
        </p:sp>
        <p:sp>
          <p:nvSpPr>
            <p:cNvPr id="57" name="Text 47">
              <a:extLst>
                <a:ext uri="{FF2B5EF4-FFF2-40B4-BE49-F238E27FC236}">
                  <a16:creationId xmlns:a16="http://schemas.microsoft.com/office/drawing/2014/main" id="{35FA96CE-8817-ADE1-768B-A8486971E95A}"/>
                </a:ext>
              </a:extLst>
            </p:cNvPr>
            <p:cNvSpPr/>
            <p:nvPr/>
          </p:nvSpPr>
          <p:spPr>
            <a:xfrm>
              <a:off x="3835400" y="3733800"/>
              <a:ext cx="4851400" cy="812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35000"/>
                </a:lnSpc>
                <a:buNone/>
              </a:pPr>
              <a:r>
                <a:rPr lang="ja-JP" altLang="en-US" sz="950" dirty="0">
                  <a:solidFill>
                    <a:srgbClr val="8A909E"/>
                  </a:solidFill>
                </a:rPr>
                <a:t>モジュールで生まれる効果の例</a:t>
              </a:r>
              <a:r>
                <a:rPr lang="en-US" altLang="ja-JP" sz="950" dirty="0">
                  <a:solidFill>
                    <a:srgbClr val="8A909E"/>
                  </a:solidFill>
                </a:rPr>
                <a:t>2</a:t>
              </a:r>
              <a:endParaRPr lang="en-US" sz="950" dirty="0">
                <a:solidFill>
                  <a:srgbClr val="8A909E"/>
                </a:solidFill>
              </a:endParaRPr>
            </a:p>
          </p:txBody>
        </p:sp>
      </p:grpSp>
      <p:grpSp>
        <p:nvGrpSpPr>
          <p:cNvPr id="58" name="グループ化 57">
            <a:extLst>
              <a:ext uri="{FF2B5EF4-FFF2-40B4-BE49-F238E27FC236}">
                <a16:creationId xmlns:a16="http://schemas.microsoft.com/office/drawing/2014/main" id="{13BA98FF-1450-A875-96F9-CC56BF9E1A21}"/>
              </a:ext>
            </a:extLst>
          </p:cNvPr>
          <p:cNvGrpSpPr/>
          <p:nvPr/>
        </p:nvGrpSpPr>
        <p:grpSpPr>
          <a:xfrm>
            <a:off x="4645155" y="1422400"/>
            <a:ext cx="4206237" cy="571500"/>
            <a:chOff x="3746500" y="2794000"/>
            <a:chExt cx="5029200" cy="1917700"/>
          </a:xfrm>
        </p:grpSpPr>
        <p:sp>
          <p:nvSpPr>
            <p:cNvPr id="59" name="Shape 43">
              <a:extLst>
                <a:ext uri="{FF2B5EF4-FFF2-40B4-BE49-F238E27FC236}">
                  <a16:creationId xmlns:a16="http://schemas.microsoft.com/office/drawing/2014/main" id="{BCC78719-80B2-EA7A-021C-B23656E6D0FF}"/>
                </a:ext>
              </a:extLst>
            </p:cNvPr>
            <p:cNvSpPr/>
            <p:nvPr/>
          </p:nvSpPr>
          <p:spPr>
            <a:xfrm>
              <a:off x="3746500" y="2794000"/>
              <a:ext cx="5029200" cy="1917700"/>
            </a:xfrm>
            <a:prstGeom prst="roundRect">
              <a:avLst>
                <a:gd name="adj" fmla="val 3810"/>
              </a:avLst>
            </a:prstGeom>
            <a:solidFill>
              <a:srgbClr val="E8EBF0"/>
            </a:solidFill>
            <a:ln w="19050">
              <a:solidFill>
                <a:srgbClr val="B0BAC9"/>
              </a:solidFill>
              <a:prstDash val="dash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0" name="Text 46">
              <a:extLst>
                <a:ext uri="{FF2B5EF4-FFF2-40B4-BE49-F238E27FC236}">
                  <a16:creationId xmlns:a16="http://schemas.microsoft.com/office/drawing/2014/main" id="{E5680920-655A-7CBF-5092-55EE785F5BA4}"/>
                </a:ext>
              </a:extLst>
            </p:cNvPr>
            <p:cNvSpPr/>
            <p:nvPr/>
          </p:nvSpPr>
          <p:spPr>
            <a:xfrm>
              <a:off x="3746500" y="3429000"/>
              <a:ext cx="5029200" cy="279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kern="0" spc="200" dirty="0">
                  <a:solidFill>
                    <a:srgbClr val="B0BAC9"/>
                  </a:solidFill>
                </a:rPr>
                <a:t>[ IMAGE ]</a:t>
              </a:r>
              <a:endParaRPr lang="en-US" sz="1000" dirty="0"/>
            </a:p>
          </p:txBody>
        </p:sp>
        <p:sp>
          <p:nvSpPr>
            <p:cNvPr id="61" name="Text 47">
              <a:extLst>
                <a:ext uri="{FF2B5EF4-FFF2-40B4-BE49-F238E27FC236}">
                  <a16:creationId xmlns:a16="http://schemas.microsoft.com/office/drawing/2014/main" id="{04BB1B76-CEBB-8AB5-302F-B1C8BED3BE05}"/>
                </a:ext>
              </a:extLst>
            </p:cNvPr>
            <p:cNvSpPr/>
            <p:nvPr/>
          </p:nvSpPr>
          <p:spPr>
            <a:xfrm>
              <a:off x="3835400" y="3733800"/>
              <a:ext cx="4851400" cy="812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35000"/>
                </a:lnSpc>
                <a:buNone/>
              </a:pPr>
              <a:r>
                <a:rPr lang="ja-JP" altLang="en-US" sz="950" dirty="0">
                  <a:solidFill>
                    <a:srgbClr val="8A909E"/>
                  </a:solidFill>
                </a:rPr>
                <a:t>モジュール選択画面</a:t>
              </a:r>
              <a:r>
                <a:rPr lang="en-US" altLang="ja-JP" sz="950" dirty="0">
                  <a:solidFill>
                    <a:srgbClr val="8A909E"/>
                  </a:solidFill>
                </a:rPr>
                <a:t> / </a:t>
              </a:r>
              <a:r>
                <a:rPr lang="ja-JP" altLang="en-US" sz="950" dirty="0">
                  <a:solidFill>
                    <a:srgbClr val="8A909E"/>
                  </a:solidFill>
                </a:rPr>
                <a:t>モジュール装備</a:t>
              </a:r>
              <a:endParaRPr lang="en-US" sz="950" dirty="0">
                <a:solidFill>
                  <a:srgbClr val="8A909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6881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8750300" y="4914900"/>
            <a:ext cx="365760" cy="2286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8750300" y="49149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00C2A8"/>
                </a:solidFill>
              </a:rPr>
              <a:t>APPEAL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このゲームの魅力</a:t>
            </a:r>
            <a:endParaRPr lang="en-US" sz="3200" dirty="0"/>
          </a:p>
        </p:txBody>
      </p:sp>
      <p:sp>
        <p:nvSpPr>
          <p:cNvPr id="36" name="Shape 34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365760" y="141732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502920" y="15544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50292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02920" y="20299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D23"/>
                </a:solidFill>
              </a:rPr>
              <a:t>操作 × 戦略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02920" y="2921000"/>
            <a:ext cx="2377440" cy="0"/>
          </a:xfrm>
          <a:prstGeom prst="line">
            <a:avLst/>
          </a:prstGeom>
          <a:noFill/>
          <a:ln w="889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2"/>
          <p:cNvSpPr/>
          <p:nvPr/>
        </p:nvSpPr>
        <p:spPr>
          <a:xfrm>
            <a:off x="3246120" y="141732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43"/>
          <p:cNvSpPr/>
          <p:nvPr/>
        </p:nvSpPr>
        <p:spPr>
          <a:xfrm>
            <a:off x="3383280" y="15544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338328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383280" y="20299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D23"/>
                </a:solidFill>
              </a:rPr>
              <a:t>自分だけの戦車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383280" y="2921000"/>
            <a:ext cx="2377440" cy="0"/>
          </a:xfrm>
          <a:prstGeom prst="line">
            <a:avLst/>
          </a:prstGeom>
          <a:noFill/>
          <a:ln w="889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Shape 49"/>
          <p:cNvSpPr/>
          <p:nvPr/>
        </p:nvSpPr>
        <p:spPr>
          <a:xfrm>
            <a:off x="6126480" y="141732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2" name="Shape 50"/>
          <p:cNvSpPr/>
          <p:nvPr/>
        </p:nvSpPr>
        <p:spPr>
          <a:xfrm>
            <a:off x="6263640" y="15544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626364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263640" y="20299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D23"/>
                </a:solidFill>
              </a:rPr>
              <a:t>5分で完結する爽快感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6263640" y="2921000"/>
            <a:ext cx="2377440" cy="0"/>
          </a:xfrm>
          <a:prstGeom prst="line">
            <a:avLst/>
          </a:prstGeom>
          <a:noFill/>
          <a:ln w="889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1" name="Image 101"/>
          <p:cNvSpPr/>
          <p:nvPr/>
        </p:nvSpPr>
        <p:spPr>
          <a:xfrm>
            <a:off x="508000" y="3048000"/>
            <a:ext cx="2425700" cy="152400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6350">
            <a:solidFill>
              <a:srgbClr val="D0D4DC"/>
            </a:solidFill>
          </a:ln>
        </p:spPr>
        <p:txBody>
          <a:bodyPr wrap="square" lIns="36000" tIns="36000" rIns="36000" bIns="36000" anchor="ctr"/>
          <a:lstStyle/>
          <a:p>
            <a:pPr algn="ctr">
              <a:buNone/>
            </a:pPr>
            <a:r>
              <a:rPr lang="en-US" sz="900" b="1" kern="0" spc="200" dirty="0">
                <a:solidFill>
                  <a:srgbClr val="7A808C"/>
                </a:solidFill>
              </a:rPr>
              <a:t>[ IMAGE ]</a:t>
            </a:r>
          </a:p>
        </p:txBody>
      </p:sp>
      <p:sp>
        <p:nvSpPr>
          <p:cNvPr id="102" name="Image 102"/>
          <p:cNvSpPr/>
          <p:nvPr/>
        </p:nvSpPr>
        <p:spPr>
          <a:xfrm>
            <a:off x="3378200" y="3048000"/>
            <a:ext cx="2425700" cy="152400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6350">
            <a:solidFill>
              <a:srgbClr val="D0D4DC"/>
            </a:solidFill>
          </a:ln>
        </p:spPr>
        <p:txBody>
          <a:bodyPr wrap="square" lIns="36000" tIns="36000" rIns="36000" bIns="36000" anchor="ctr"/>
          <a:lstStyle/>
          <a:p>
            <a:pPr algn="ctr">
              <a:buNone/>
            </a:pPr>
            <a:r>
              <a:rPr lang="en-US" sz="900" b="1" kern="0" spc="200" dirty="0">
                <a:solidFill>
                  <a:srgbClr val="7A808C"/>
                </a:solidFill>
              </a:rPr>
              <a:t>[ IMAGE ]</a:t>
            </a:r>
          </a:p>
        </p:txBody>
      </p:sp>
      <p:sp>
        <p:nvSpPr>
          <p:cNvPr id="103" name="Image 103"/>
          <p:cNvSpPr/>
          <p:nvPr/>
        </p:nvSpPr>
        <p:spPr>
          <a:xfrm>
            <a:off x="6261100" y="3048000"/>
            <a:ext cx="2425700" cy="152400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6350">
            <a:solidFill>
              <a:srgbClr val="D0D4DC"/>
            </a:solidFill>
          </a:ln>
        </p:spPr>
        <p:txBody>
          <a:bodyPr wrap="square" lIns="36000" tIns="36000" rIns="36000" bIns="36000" anchor="ctr"/>
          <a:lstStyle/>
          <a:p>
            <a:pPr algn="ctr">
              <a:buNone/>
            </a:pPr>
            <a:r>
              <a:rPr lang="en-US" sz="900" b="1" kern="0" spc="200" dirty="0">
                <a:solidFill>
                  <a:srgbClr val="7A808C"/>
                </a:solidFill>
              </a:rPr>
              <a:t>[ IMAGE ]</a:t>
            </a:r>
          </a:p>
        </p:txBody>
      </p:sp>
    </p:spTree>
    <p:extLst>
      <p:ext uri="{BB962C8B-B14F-4D97-AF65-F5344CB8AC3E}">
        <p14:creationId xmlns:p14="http://schemas.microsoft.com/office/powerpoint/2010/main" val="730628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8750300" y="4914900"/>
            <a:ext cx="365760" cy="2286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8750300" y="49149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00C2A8"/>
                </a:solidFill>
              </a:rPr>
              <a:t>CLOSING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締め</a:t>
            </a:r>
            <a:endParaRPr lang="en-US" sz="3200" dirty="0"/>
          </a:p>
        </p:txBody>
      </p:sp>
      <p:sp>
        <p:nvSpPr>
          <p:cNvPr id="36" name="Shape 34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DDE0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365760" y="1422400"/>
            <a:ext cx="8412480" cy="571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548640" y="1549400"/>
            <a:ext cx="804672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D23"/>
                </a:solidFill>
              </a:rPr>
              <a:t>締めのメッセージ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8300" y="2095500"/>
            <a:ext cx="3200400" cy="5715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E0E6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546100" y="2222500"/>
            <a:ext cx="2832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D23"/>
                </a:solidFill>
              </a:rPr>
              <a:t>TGSで目指すこと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746500" y="2095500"/>
            <a:ext cx="5029200" cy="571500"/>
          </a:xfrm>
          <a:prstGeom prst="roundRect">
            <a:avLst>
              <a:gd name="adj" fmla="val 4211"/>
            </a:avLst>
          </a:prstGeom>
          <a:solidFill>
            <a:srgbClr val="E8EBF0"/>
          </a:solidFill>
          <a:ln w="19050">
            <a:solidFill>
              <a:srgbClr val="B0BAC9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Shape 44"/>
          <p:cNvSpPr/>
          <p:nvPr/>
        </p:nvSpPr>
        <p:spPr>
          <a:xfrm>
            <a:off x="6720840" y="2159000"/>
            <a:ext cx="0" cy="444500"/>
          </a:xfrm>
          <a:prstGeom prst="line">
            <a:avLst/>
          </a:prstGeom>
          <a:noFill/>
          <a:ln w="8890">
            <a:solidFill>
              <a:srgbClr val="B0BAC9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45"/>
          <p:cNvSpPr/>
          <p:nvPr/>
        </p:nvSpPr>
        <p:spPr>
          <a:xfrm>
            <a:off x="4754880" y="2381250"/>
            <a:ext cx="3931920" cy="0"/>
          </a:xfrm>
          <a:prstGeom prst="line">
            <a:avLst/>
          </a:prstGeom>
          <a:noFill/>
          <a:ln w="8890">
            <a:solidFill>
              <a:srgbClr val="B0BAC9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3746500" y="2159000"/>
            <a:ext cx="5029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B0BAC9"/>
                </a:solidFill>
              </a:rPr>
              <a:t>[ IMAGE ]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835400" y="2400300"/>
            <a:ext cx="4851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ja-JP" altLang="en-US" sz="950" dirty="0">
                <a:solidFill>
                  <a:srgbClr val="8A909E"/>
                </a:solidFill>
              </a:rPr>
              <a:t>プレイ動画</a:t>
            </a:r>
            <a:r>
              <a:rPr lang="en-US" altLang="ja-JP" sz="950" dirty="0">
                <a:solidFill>
                  <a:srgbClr val="8A909E"/>
                </a:solidFill>
              </a:rPr>
              <a:t>URL</a:t>
            </a:r>
            <a:r>
              <a:rPr lang="ja-JP" altLang="en-US" sz="950" dirty="0">
                <a:solidFill>
                  <a:srgbClr val="8A909E"/>
                </a:solidFill>
              </a:rPr>
              <a:t>・映像</a:t>
            </a:r>
            <a:endParaRPr lang="en-US" sz="950" dirty="0">
              <a:solidFill>
                <a:srgbClr val="8A909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550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7CCDABA-EDA8-489B-9A9B-A388D52EFDCC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1453cdb4-23c8-4d69-b33d-dbb011f86e2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159</Words>
  <Application>Microsoft Office PowerPoint</Application>
  <PresentationFormat>画面に合わせる (16:9)</PresentationFormat>
  <Paragraphs>66</Paragraphs>
  <Slides>7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Tank Game Proposal Template</dc:title>
  <dc:subject>PptxGenJS Presentation</dc:subject>
  <dc:creator>PptxGenJS</dc:creator>
  <cp:lastModifiedBy>辻井 孝輔</cp:lastModifiedBy>
  <cp:revision>4</cp:revision>
  <dcterms:created xsi:type="dcterms:W3CDTF">2026-06-11T07:49:47Z</dcterms:created>
  <dcterms:modified xsi:type="dcterms:W3CDTF">2026-06-12T14:57:32Z</dcterms:modified>
</cp:coreProperties>
</file>